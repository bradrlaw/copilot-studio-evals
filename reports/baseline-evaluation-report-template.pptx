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B4D"/>
          </a:solidFill>
          <a:ln>
            <a:solidFill>
              <a:srgbClr val="172B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4241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&lt;AGENT_NAME&gt; Evaluation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60604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E8F1FB"/>
                </a:solidFill>
                <a:latin typeface="Aptos"/>
              </a:rPr>
              <a:t>Quality, capability, safety, and regression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86200"/>
            <a:ext cx="7498079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Aptos"/>
              </a:rPr>
              <a:t>Agent version: &lt;AGENT_VERSION&gt;
Environment: &lt;ENVIRONMENT&gt; | Run date: &lt;RUN_DATE&gt;
Evaluation owner: &lt;OWNER&gt;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5212080"/>
            <a:ext cx="1600200" cy="438912"/>
          </a:xfrm>
          <a:prstGeom prst="rect">
            <a:avLst/>
          </a:prstGeom>
          <a:solidFill>
            <a:srgbClr val="E8F1FB"/>
          </a:solidFill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72B4D"/>
                </a:solidFill>
                <a:latin typeface="Aptos"/>
              </a:rPr>
              <a:t>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Executive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72768"/>
            <a:ext cx="26060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6479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0066CC"/>
                </a:solidFill>
                <a:latin typeface="Aptos"/>
              </a:rPr>
              <a:t>&lt;N&gt;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67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C84"/>
                </a:solidFill>
                <a:latin typeface="Aptos"/>
              </a:rPr>
              <a:t>SCORED CASES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572768"/>
            <a:ext cx="26060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1B7F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93591" y="176479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B7F4B"/>
                </a:solidFill>
                <a:latin typeface="Aptos"/>
              </a:rPr>
              <a:t>&lt;NN%&gt;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1" y="2267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C84"/>
                </a:solidFill>
                <a:latin typeface="Aptos"/>
              </a:rPr>
              <a:t>PASS RATE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18504" y="1572768"/>
            <a:ext cx="26060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B56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55664" y="176479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B56800"/>
                </a:solidFill>
                <a:latin typeface="Aptos"/>
              </a:rPr>
              <a:t>&lt;N&gt;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55664" y="2267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C84"/>
                </a:solidFill>
                <a:latin typeface="Aptos"/>
              </a:rPr>
              <a:t>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80576" y="1572768"/>
            <a:ext cx="2606040" cy="1234440"/>
          </a:xfrm>
          <a:prstGeom prst="roundRect">
            <a:avLst/>
          </a:prstGeom>
          <a:solidFill>
            <a:srgbClr val="F3F5F7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17736" y="1764792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B42318"/>
                </a:solidFill>
                <a:latin typeface="Aptos"/>
              </a:rPr>
              <a:t>&lt;N&gt;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2267712"/>
            <a:ext cx="2331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E6C84"/>
                </a:solidFill>
                <a:latin typeface="Aptos"/>
              </a:rPr>
              <a:t>CRITICAL FAILURES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218688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Release recommendation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685032"/>
            <a:ext cx="10972800" cy="150876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977639"/>
            <a:ext cx="103784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17242B"/>
                </a:solidFill>
                <a:latin typeface="Aptos"/>
              </a:rPr>
              <a:t>&lt;APPROVE | APPROVE WITH CONDITIONS | DO NOT APPROVE&gt;
&lt;One-paragraph decision rationale and the most important evidence.&gt;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Scope and run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Evaluation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Purpose: &lt;release gate / baseline / regression&gt;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Dataset: &lt;NAME_AND_VERSION&gt;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Designed cases: &lt;N&gt;; observed-pattern cases: &lt;N&gt;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In-scope capabilities: &lt;LIST&gt;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Out-of-scope behavior: &lt;LIST&gt;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Run configuration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Target: &lt;built-in Evaluation / Kit / API&gt;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Agent state: &lt;draft / published&gt;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User profile: &lt;PROFILE&gt;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Evaluation methods: &lt;METHODS&gt;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Thresholds and judge version: &lt;DETAILS&gt;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Coverage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Coverage dimensions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Capabilities: &lt;N_OF_N&gt;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Tools and actions: &lt;N_OF_N&gt;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Multi-turn and recovery flows: &lt;N&gt;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Negative and safety scenarios: &lt;N&gt;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Locales, channels, and personas: &lt;DETAILS&gt;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Coverage gaps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&lt;Missing capability or tool&gt;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&lt;Unrepresented user segment&gt;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&lt;Untested integration failure&gt;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&lt;Known telemetry limitation&gt;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&lt;Planned follow-up date and owner&gt;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Results by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>
                <a:solidFill>
                  <a:srgbClr val="5E6C84"/>
                </a:solidFill>
                <a:latin typeface="Aptos"/>
              </a:rPr>
              <a:t>Replace this placeholder with a chart generated from normalized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2240280"/>
            <a:ext cx="10058400" cy="2331720"/>
          </a:xfrm>
          <a:prstGeom prst="roundRect">
            <a:avLst/>
          </a:prstGeom>
          <a:solidFill>
            <a:srgbClr val="F3F5F7"/>
          </a:solidFill>
          <a:ln>
            <a:solidFill>
              <a:srgbClr val="5E6C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" y="2770632"/>
            <a:ext cx="950976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72B4D"/>
                </a:solidFill>
                <a:latin typeface="Aptos"/>
              </a:rPr>
              <a:t>&lt;CATEGORY CHART&gt;
Recommended: pass / fail / blocked counts by capability, risk, tool, or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1091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17242B"/>
                </a:solidFill>
                <a:latin typeface="Aptos"/>
              </a:rPr>
              <a:t>Denominator: &lt;DEFINE WHICH STATUSES COUNT&gt; | Baseline comparison: &lt;CHANGE&gt;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Failure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Failure themes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&lt;Theme 1&gt;: &lt;count and impact&gt;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&lt;Theme 2&gt;: &lt;count and impact&gt;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&lt;Theme 3&gt;: &lt;count and impact&gt;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Evaluator or test-data defects: &lt;N&gt;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Environment or permission blocks: &lt;N&gt;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Root causes and 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&lt;Agent behavior or orchestration cause&gt;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&lt;Tool selection or parameter cause&gt;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&lt;Knowledge or grounding cause&gt;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&lt;Safety or authorization cause&gt;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Use synthetic excerpts only in public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Actions and release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Required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&lt;Action, owner, priority, due date&gt;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&lt;Action, owner, priority, due date&gt;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&lt;Regression case to add&gt;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&lt;Evaluation defect to correct separately&gt;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&lt;Blocked dependency to resolve&gt;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Decision record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Decision: &lt;STATUS&gt;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Approver: &lt;NAME_OR_ROLE&gt;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Conditions: &lt;LIST&gt;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Next full run: &lt;DATE_OR_TRIGGER&gt;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Baseline artifact location: &lt;URI_OR_PATH&gt;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0066CC"/>
                </a:solidFill>
                <a:latin typeface="Aptos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8368"/>
            <a:ext cx="10972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172B4D"/>
                </a:solidFill>
                <a:latin typeface="Aptos"/>
              </a:rPr>
              <a:t>Run metadata and limitations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44752"/>
            <a:ext cx="534924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F3F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36208" y="1444752"/>
            <a:ext cx="5349240" cy="4526280"/>
          </a:xfrm>
          <a:prstGeom prst="roundRect">
            <a:avLst/>
          </a:prstGeom>
          <a:solidFill>
            <a:srgbClr val="E8F1FB"/>
          </a:solidFill>
          <a:ln>
            <a:solidFill>
              <a:srgbClr val="E8F1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Reproducibility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Run ID: &lt;RUN_ID&gt;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Dataset hash/version: &lt;VALUE&gt;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Solution/model version: &lt;VALUE&gt;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Environment and region: &lt;VALUE&gt;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Results export: &lt;URI_OR_PATH&gt;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0528" y="1719072"/>
            <a:ext cx="4754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72B4D"/>
                </a:solidFill>
                <a:latin typeface="Aptos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0528" y="2286000"/>
            <a:ext cx="47091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&lt;Judge limitation&gt;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&lt;Telemetry or tool-correlation limitation&gt;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&lt;Missing production segment&gt;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&lt;Non-deterministic dependency&gt;</a:t>
            </a:r>
          </a:p>
          <a:p>
            <a:pPr>
              <a:spcAft>
                <a:spcPts val="900"/>
              </a:spcAft>
              <a:defRPr sz="1600">
                <a:solidFill>
                  <a:srgbClr val="17242B"/>
                </a:solidFill>
                <a:latin typeface="Aptos"/>
              </a:defRPr>
            </a:pPr>
            <a:r>
              <a:t>• &lt;Retention or privacy constraint&gt;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9601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E6C84"/>
                </a:solidFill>
                <a:latin typeface="Aptos"/>
              </a:rPr>
              <a:t>Copilot Studio Evaluation Framework | Replace all &lt;PLACEHOLDERS&gt;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5E6C84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Evaluation Baseline Report Template</dc:title>
  <dc:subject>Generic Copilot Studio agent evaluation baseline template</dc:subject>
  <dc:creator>Copilot Studio Evaluation Framework</dc:creator>
  <cp:keywords>Copilot Studio, evaluation, template</cp:keywords>
  <dc:description>Generic template generated from synthetic placeholder content.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